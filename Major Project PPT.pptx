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40" r:id="rId10"/>
    <p:sldId id="339"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8364" y="3588198"/>
            <a:ext cx="4998720" cy="861497"/>
          </a:xfrm>
        </p:spPr>
        <p:txBody>
          <a:bodyPr vert="horz" lIns="91440" tIns="45720" rIns="91440" bIns="45720" rtlCol="0" anchor="t">
            <a:normAutofit fontScale="85000" lnSpcReduction="10000"/>
          </a:bodyPr>
          <a:lstStyle/>
          <a:p>
            <a:r>
              <a:rPr lang="en-US" b="0" dirty="0">
                <a:solidFill>
                  <a:schemeClr val="tx1"/>
                </a:solidFill>
              </a:rPr>
              <a:t>Student Name- Nishant Kumar       </a:t>
            </a:r>
            <a:endParaRPr lang="en-IN" b="0" dirty="0">
              <a:solidFill>
                <a:schemeClr val="tx1"/>
              </a:solidFill>
            </a:endParaRPr>
          </a:p>
          <a:p>
            <a:r>
              <a:rPr lang="en-US" b="0" dirty="0">
                <a:solidFill>
                  <a:schemeClr val="tx1"/>
                </a:solidFill>
              </a:rPr>
              <a:t>College Name- Sitamarhi Institute Of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10145146" cy="743448"/>
          </a:xfrm>
        </p:spPr>
        <p:txBody>
          <a:bodyPr>
            <a:normAutofit fontScale="90000"/>
          </a:bodyPr>
          <a:lstStyle/>
          <a:p>
            <a:r>
              <a:rPr lang="en-GB" sz="3200" dirty="0"/>
              <a:t>Project Title- </a:t>
            </a:r>
            <a:r>
              <a:rPr lang="en-IN" sz="3200" dirty="0"/>
              <a:t>Seasonal Agriculture Performance Analysis</a:t>
            </a:r>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8364" y="4331646"/>
            <a:ext cx="4998720" cy="369332"/>
          </a:xfrm>
          <a:prstGeom prst="rect">
            <a:avLst/>
          </a:prstGeom>
          <a:noFill/>
        </p:spPr>
        <p:txBody>
          <a:bodyPr wrap="square" rtlCol="0">
            <a:spAutoFit/>
          </a:bodyPr>
          <a:lstStyle/>
          <a:p>
            <a:r>
              <a:rPr lang="en-US" b="1" dirty="0"/>
              <a:t>AICTE STU ID : </a:t>
            </a:r>
            <a:r>
              <a:rPr lang="en-IN" dirty="0"/>
              <a:t>STU6a69e1d2dc58f1785323986</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randombar(horizontal)">
                                      <p:cBhvr>
                                        <p:cTn id="25" dur="500"/>
                                        <p:tgtEl>
                                          <p:spTgt spid="2">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0"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62500" lnSpcReduction="2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a:t>
            </a:r>
          </a:p>
          <a:p>
            <a:pPr>
              <a:lnSpc>
                <a:spcPct val="100000"/>
              </a:lnSpc>
            </a:pPr>
            <a:r>
              <a:rPr lang="en-IN" sz="2800" dirty="0"/>
              <a:t> However, raw agricultural data does not clearly explain how agricultural performance changes across seasons or what patterns can be observed in different seasonal conditions. </a:t>
            </a:r>
          </a:p>
          <a:p>
            <a:pPr>
              <a:lnSpc>
                <a:spcPct val="100000"/>
              </a:lnSpc>
            </a:pPr>
            <a:r>
              <a:rPr lang="en-IN" sz="2800" dirty="0"/>
              <a:t>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US" sz="2200" b="0" dirty="0"/>
            </a:br>
            <a:r>
              <a:rPr lang="en-US" sz="2200" b="0" dirty="0"/>
              <a:t>Seasonal Agriculture Performance Analysis is a Data Analytics project based on agricultural records from different seasons, geographical areas and farming conditions.</a:t>
            </a:r>
            <a:br>
              <a:rPr lang="en-US" sz="2200" b="0" dirty="0"/>
            </a:br>
            <a:br>
              <a:rPr lang="en-US" sz="2200" b="0" dirty="0"/>
            </a:br>
            <a:r>
              <a:rPr lang="en-US" sz="2200" b="0" dirty="0"/>
              <a:t>The dataset includes crop production, environmental conditions, farming practices, resource usage and economic performance.</a:t>
            </a:r>
            <a:br>
              <a:rPr lang="en-US" sz="2200" b="0" dirty="0"/>
            </a:br>
            <a:br>
              <a:rPr lang="en-US" sz="2200" b="0" dirty="0"/>
            </a:br>
            <a:r>
              <a:rPr lang="en-US" sz="2200" b="0" dirty="0"/>
              <a:t>The project analyzes and compares agricultural performance across Kharif, Rabi and Zaid seasons to identify meaningful patterns, trends and relationships.</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5" name="Rounded Rectangle 25">
            <a:extLst>
              <a:ext uri="{FF2B5EF4-FFF2-40B4-BE49-F238E27FC236}">
                <a16:creationId xmlns:a16="http://schemas.microsoft.com/office/drawing/2014/main" id="{0B63EE73-DBA2-9460-EF7C-BF036B6D611B}"/>
              </a:ext>
            </a:extLst>
          </p:cNvPr>
          <p:cNvSpPr/>
          <p:nvPr/>
        </p:nvSpPr>
        <p:spPr>
          <a:xfrm>
            <a:off x="777240" y="1788986"/>
            <a:ext cx="4617720" cy="1417320"/>
          </a:xfrm>
          <a:prstGeom prst="roundRect">
            <a:avLst/>
          </a:prstGeom>
          <a:solidFill>
            <a:srgbClr val="F8FAFC"/>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9DB05C14-1BE3-54CB-F533-541956E6841F}"/>
              </a:ext>
            </a:extLst>
          </p:cNvPr>
          <p:cNvSpPr txBox="1"/>
          <p:nvPr/>
        </p:nvSpPr>
        <p:spPr>
          <a:xfrm>
            <a:off x="960120" y="1903551"/>
            <a:ext cx="4251960" cy="369332"/>
          </a:xfrm>
          <a:prstGeom prst="rect">
            <a:avLst/>
          </a:prstGeom>
          <a:noFill/>
        </p:spPr>
        <p:txBody>
          <a:bodyPr wrap="square" anchor="ctr">
            <a:spAutoFit/>
          </a:bodyPr>
          <a:lstStyle/>
          <a:p>
            <a:pPr algn="l"/>
            <a:r>
              <a:rPr lang="en-US" b="1" dirty="0">
                <a:solidFill>
                  <a:srgbClr val="145F96"/>
                </a:solidFill>
                <a:latin typeface="Aptos"/>
              </a:rPr>
              <a:t>Farmers</a:t>
            </a:r>
            <a:endParaRPr sz="1800" b="1" dirty="0">
              <a:solidFill>
                <a:srgbClr val="145F96"/>
              </a:solidFill>
              <a:latin typeface="Aptos"/>
            </a:endParaRPr>
          </a:p>
        </p:txBody>
      </p:sp>
      <p:sp>
        <p:nvSpPr>
          <p:cNvPr id="10" name="TextBox 9">
            <a:extLst>
              <a:ext uri="{FF2B5EF4-FFF2-40B4-BE49-F238E27FC236}">
                <a16:creationId xmlns:a16="http://schemas.microsoft.com/office/drawing/2014/main" id="{51C8D2BB-3FC1-DE52-7CE0-E2EAED923C2F}"/>
              </a:ext>
            </a:extLst>
          </p:cNvPr>
          <p:cNvSpPr txBox="1"/>
          <p:nvPr/>
        </p:nvSpPr>
        <p:spPr>
          <a:xfrm>
            <a:off x="960120" y="2359411"/>
            <a:ext cx="4251960" cy="646331"/>
          </a:xfrm>
          <a:prstGeom prst="rect">
            <a:avLst/>
          </a:prstGeom>
          <a:noFill/>
        </p:spPr>
        <p:txBody>
          <a:bodyPr wrap="square" anchor="ctr">
            <a:spAutoFit/>
          </a:bodyPr>
          <a:lstStyle/>
          <a:p>
            <a:r>
              <a:rPr lang="en-US" dirty="0"/>
              <a:t>Use insights to improve crop planning and farming practices.</a:t>
            </a:r>
            <a:endParaRPr sz="1300" b="0" dirty="0">
              <a:solidFill>
                <a:srgbClr val="373737"/>
              </a:solidFill>
              <a:latin typeface="Aptos"/>
            </a:endParaRPr>
          </a:p>
        </p:txBody>
      </p:sp>
      <p:sp>
        <p:nvSpPr>
          <p:cNvPr id="14" name="Rounded Rectangle 25">
            <a:extLst>
              <a:ext uri="{FF2B5EF4-FFF2-40B4-BE49-F238E27FC236}">
                <a16:creationId xmlns:a16="http://schemas.microsoft.com/office/drawing/2014/main" id="{2B36444C-3312-7155-67FD-93508DB18C8F}"/>
              </a:ext>
            </a:extLst>
          </p:cNvPr>
          <p:cNvSpPr/>
          <p:nvPr/>
        </p:nvSpPr>
        <p:spPr>
          <a:xfrm>
            <a:off x="5806440" y="1788986"/>
            <a:ext cx="4617720" cy="1417320"/>
          </a:xfrm>
          <a:prstGeom prst="roundRect">
            <a:avLst/>
          </a:prstGeom>
          <a:solidFill>
            <a:srgbClr val="F8FAFC"/>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EC35D628-8404-8125-C58D-F95983EB04B3}"/>
              </a:ext>
            </a:extLst>
          </p:cNvPr>
          <p:cNvSpPr txBox="1"/>
          <p:nvPr/>
        </p:nvSpPr>
        <p:spPr>
          <a:xfrm>
            <a:off x="5971031" y="1909310"/>
            <a:ext cx="4251960" cy="369332"/>
          </a:xfrm>
          <a:prstGeom prst="rect">
            <a:avLst/>
          </a:prstGeom>
          <a:noFill/>
        </p:spPr>
        <p:txBody>
          <a:bodyPr wrap="square" anchor="ctr">
            <a:spAutoFit/>
          </a:bodyPr>
          <a:lstStyle/>
          <a:p>
            <a:pPr algn="l"/>
            <a:r>
              <a:rPr lang="en-US" sz="1800" b="1" dirty="0">
                <a:solidFill>
                  <a:srgbClr val="145F96"/>
                </a:solidFill>
                <a:latin typeface="Aptos"/>
              </a:rPr>
              <a:t>Agriculture Officers</a:t>
            </a:r>
            <a:endParaRPr sz="1800" b="1" dirty="0">
              <a:solidFill>
                <a:srgbClr val="145F96"/>
              </a:solidFill>
              <a:latin typeface="Aptos"/>
            </a:endParaRPr>
          </a:p>
        </p:txBody>
      </p:sp>
      <p:sp>
        <p:nvSpPr>
          <p:cNvPr id="18" name="TextBox 17">
            <a:extLst>
              <a:ext uri="{FF2B5EF4-FFF2-40B4-BE49-F238E27FC236}">
                <a16:creationId xmlns:a16="http://schemas.microsoft.com/office/drawing/2014/main" id="{2241B21D-B84C-B6AB-41BA-D8A10284FDEF}"/>
              </a:ext>
            </a:extLst>
          </p:cNvPr>
          <p:cNvSpPr txBox="1"/>
          <p:nvPr/>
        </p:nvSpPr>
        <p:spPr>
          <a:xfrm>
            <a:off x="5971031" y="2365170"/>
            <a:ext cx="4251960" cy="646331"/>
          </a:xfrm>
          <a:prstGeom prst="rect">
            <a:avLst/>
          </a:prstGeom>
          <a:noFill/>
        </p:spPr>
        <p:txBody>
          <a:bodyPr wrap="square" anchor="ctr">
            <a:spAutoFit/>
          </a:bodyPr>
          <a:lstStyle/>
          <a:p>
            <a:r>
              <a:rPr lang="en-US" dirty="0"/>
              <a:t>Monitor seasonal agricultural performance and trends.</a:t>
            </a:r>
            <a:endParaRPr sz="1300" b="0" dirty="0">
              <a:solidFill>
                <a:srgbClr val="373737"/>
              </a:solidFill>
              <a:latin typeface="Aptos"/>
            </a:endParaRPr>
          </a:p>
        </p:txBody>
      </p:sp>
      <p:sp>
        <p:nvSpPr>
          <p:cNvPr id="20" name="Rounded Rectangle 22">
            <a:extLst>
              <a:ext uri="{FF2B5EF4-FFF2-40B4-BE49-F238E27FC236}">
                <a16:creationId xmlns:a16="http://schemas.microsoft.com/office/drawing/2014/main" id="{B8D57CDB-C43A-1748-C2B4-1924D25B2339}"/>
              </a:ext>
            </a:extLst>
          </p:cNvPr>
          <p:cNvSpPr/>
          <p:nvPr/>
        </p:nvSpPr>
        <p:spPr>
          <a:xfrm>
            <a:off x="777240" y="3703320"/>
            <a:ext cx="4617720" cy="1417320"/>
          </a:xfrm>
          <a:prstGeom prst="roundRect">
            <a:avLst/>
          </a:prstGeom>
          <a:solidFill>
            <a:srgbClr val="F8FAFC"/>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E59B5CD5-5AB4-BBF0-B582-C1BC127488FF}"/>
              </a:ext>
            </a:extLst>
          </p:cNvPr>
          <p:cNvSpPr txBox="1"/>
          <p:nvPr/>
        </p:nvSpPr>
        <p:spPr>
          <a:xfrm>
            <a:off x="941832" y="3783830"/>
            <a:ext cx="4251960" cy="369332"/>
          </a:xfrm>
          <a:prstGeom prst="rect">
            <a:avLst/>
          </a:prstGeom>
          <a:noFill/>
        </p:spPr>
        <p:txBody>
          <a:bodyPr wrap="square" anchor="ctr">
            <a:spAutoFit/>
          </a:bodyPr>
          <a:lstStyle/>
          <a:p>
            <a:pPr algn="l"/>
            <a:r>
              <a:rPr lang="en-US" sz="1800" b="1" dirty="0">
                <a:solidFill>
                  <a:srgbClr val="145F96"/>
                </a:solidFill>
                <a:latin typeface="Aptos"/>
              </a:rPr>
              <a:t>Researchers</a:t>
            </a:r>
            <a:endParaRPr sz="1800" b="1" dirty="0">
              <a:solidFill>
                <a:srgbClr val="145F96"/>
              </a:solidFill>
              <a:latin typeface="Aptos"/>
            </a:endParaRPr>
          </a:p>
        </p:txBody>
      </p:sp>
      <p:sp>
        <p:nvSpPr>
          <p:cNvPr id="24" name="TextBox 23">
            <a:extLst>
              <a:ext uri="{FF2B5EF4-FFF2-40B4-BE49-F238E27FC236}">
                <a16:creationId xmlns:a16="http://schemas.microsoft.com/office/drawing/2014/main" id="{736F93F7-301C-97DC-F906-AA0215918FDB}"/>
              </a:ext>
            </a:extLst>
          </p:cNvPr>
          <p:cNvSpPr txBox="1"/>
          <p:nvPr/>
        </p:nvSpPr>
        <p:spPr>
          <a:xfrm>
            <a:off x="941832" y="4239690"/>
            <a:ext cx="4251960" cy="646331"/>
          </a:xfrm>
          <a:prstGeom prst="rect">
            <a:avLst/>
          </a:prstGeom>
          <a:noFill/>
        </p:spPr>
        <p:txBody>
          <a:bodyPr wrap="square" anchor="ctr">
            <a:spAutoFit/>
          </a:bodyPr>
          <a:lstStyle/>
          <a:p>
            <a:r>
              <a:rPr lang="en-US" dirty="0"/>
              <a:t>Study relationships between seasons and crop productivity.</a:t>
            </a:r>
            <a:endParaRPr sz="1300" b="0" dirty="0">
              <a:solidFill>
                <a:srgbClr val="373737"/>
              </a:solidFill>
              <a:latin typeface="Aptos"/>
            </a:endParaRPr>
          </a:p>
        </p:txBody>
      </p:sp>
      <p:sp>
        <p:nvSpPr>
          <p:cNvPr id="26" name="Rounded Rectangle 25">
            <a:extLst>
              <a:ext uri="{FF2B5EF4-FFF2-40B4-BE49-F238E27FC236}">
                <a16:creationId xmlns:a16="http://schemas.microsoft.com/office/drawing/2014/main" id="{65249144-B732-E461-ED07-0B1737DFA21F}"/>
              </a:ext>
            </a:extLst>
          </p:cNvPr>
          <p:cNvSpPr/>
          <p:nvPr/>
        </p:nvSpPr>
        <p:spPr>
          <a:xfrm>
            <a:off x="5806440" y="3703320"/>
            <a:ext cx="4617720" cy="1417320"/>
          </a:xfrm>
          <a:prstGeom prst="roundRect">
            <a:avLst/>
          </a:prstGeom>
          <a:solidFill>
            <a:srgbClr val="F8FAFC"/>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F39DDE43-7F59-C2A8-E346-EB919F3353BB}"/>
              </a:ext>
            </a:extLst>
          </p:cNvPr>
          <p:cNvSpPr txBox="1"/>
          <p:nvPr/>
        </p:nvSpPr>
        <p:spPr>
          <a:xfrm>
            <a:off x="5971031" y="3783830"/>
            <a:ext cx="4251960" cy="369332"/>
          </a:xfrm>
          <a:prstGeom prst="rect">
            <a:avLst/>
          </a:prstGeom>
          <a:noFill/>
        </p:spPr>
        <p:txBody>
          <a:bodyPr wrap="square" anchor="ctr">
            <a:spAutoFit/>
          </a:bodyPr>
          <a:lstStyle/>
          <a:p>
            <a:pPr algn="l"/>
            <a:r>
              <a:rPr lang="en-US" b="1" dirty="0">
                <a:solidFill>
                  <a:srgbClr val="145F96"/>
                </a:solidFill>
                <a:latin typeface="Aptos"/>
              </a:rPr>
              <a:t>Government Policy Makers</a:t>
            </a:r>
            <a:endParaRPr sz="1800" b="1" dirty="0">
              <a:solidFill>
                <a:srgbClr val="145F96"/>
              </a:solidFill>
              <a:latin typeface="Aptos"/>
            </a:endParaRPr>
          </a:p>
        </p:txBody>
      </p:sp>
      <p:sp>
        <p:nvSpPr>
          <p:cNvPr id="30" name="TextBox 29">
            <a:extLst>
              <a:ext uri="{FF2B5EF4-FFF2-40B4-BE49-F238E27FC236}">
                <a16:creationId xmlns:a16="http://schemas.microsoft.com/office/drawing/2014/main" id="{B7C3BA97-22A1-6FF3-0384-C0E15DD83F76}"/>
              </a:ext>
            </a:extLst>
          </p:cNvPr>
          <p:cNvSpPr txBox="1"/>
          <p:nvPr/>
        </p:nvSpPr>
        <p:spPr>
          <a:xfrm>
            <a:off x="5971031" y="4239690"/>
            <a:ext cx="4251960" cy="646331"/>
          </a:xfrm>
          <a:prstGeom prst="rect">
            <a:avLst/>
          </a:prstGeom>
          <a:noFill/>
        </p:spPr>
        <p:txBody>
          <a:bodyPr wrap="square" anchor="ctr">
            <a:spAutoFit/>
          </a:bodyPr>
          <a:lstStyle/>
          <a:p>
            <a:r>
              <a:rPr lang="en-US" dirty="0"/>
              <a:t>Use data insights for agricultural planning and policies.</a:t>
            </a:r>
            <a:endParaRPr sz="1300" b="0" dirty="0">
              <a:solidFill>
                <a:srgbClr val="373737"/>
              </a:solidFill>
              <a:latin typeface="Aptos"/>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821922" y="6427433"/>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4254759"/>
            <a:ext cx="1477820" cy="25754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TextBox 2">
            <a:extLst>
              <a:ext uri="{FF2B5EF4-FFF2-40B4-BE49-F238E27FC236}">
                <a16:creationId xmlns:a16="http://schemas.microsoft.com/office/drawing/2014/main" id="{053A507F-C24D-31AC-CDDB-DCFA082E5FFE}"/>
              </a:ext>
            </a:extLst>
          </p:cNvPr>
          <p:cNvSpPr txBox="1"/>
          <p:nvPr/>
        </p:nvSpPr>
        <p:spPr>
          <a:xfrm>
            <a:off x="744375" y="1278384"/>
            <a:ext cx="7354597" cy="3191070"/>
          </a:xfrm>
          <a:prstGeom prst="rect">
            <a:avLst/>
          </a:prstGeom>
          <a:noFill/>
        </p:spPr>
        <p:txBody>
          <a:bodyPr wrap="square" rtlCol="0">
            <a:spAutoFit/>
          </a:bodyPr>
          <a:lstStyle/>
          <a:p>
            <a:pPr marL="285750" indent="-285750">
              <a:buClr>
                <a:schemeClr val="accent4"/>
              </a:buClr>
              <a:buSzPct val="80000"/>
              <a:buFont typeface="Wingdings" panose="05000000000000000000" pitchFamily="2" charset="2"/>
              <a:buChar char="§"/>
            </a:pPr>
            <a:r>
              <a:rPr lang="en-IN" dirty="0"/>
              <a:t>Python — Data Analysis and Statistical Processing</a:t>
            </a:r>
          </a:p>
          <a:p>
            <a:pPr marL="285750" indent="-285750">
              <a:buClr>
                <a:schemeClr val="accent4"/>
              </a:buClr>
              <a:buSzPct val="80000"/>
              <a:buFont typeface="Wingdings" panose="05000000000000000000" pitchFamily="2" charset="2"/>
              <a:buChar char="§"/>
            </a:pPr>
            <a:endParaRPr lang="en-IN" dirty="0"/>
          </a:p>
          <a:p>
            <a:pPr marL="285750" indent="-285750">
              <a:buClr>
                <a:schemeClr val="accent4"/>
              </a:buClr>
              <a:buSzPct val="80000"/>
              <a:buFont typeface="Wingdings" panose="05000000000000000000" pitchFamily="2" charset="2"/>
              <a:buChar char="§"/>
            </a:pPr>
            <a:r>
              <a:rPr lang="en-IN" dirty="0"/>
              <a:t>Pandas — Data Cleaning, Transformation and Aggregation</a:t>
            </a:r>
          </a:p>
          <a:p>
            <a:pPr marL="285750" indent="-285750">
              <a:buClr>
                <a:schemeClr val="accent4"/>
              </a:buClr>
              <a:buSzPct val="80000"/>
              <a:buFont typeface="Wingdings" panose="05000000000000000000" pitchFamily="2" charset="2"/>
              <a:buChar char="§"/>
            </a:pPr>
            <a:endParaRPr lang="en-IN" dirty="0"/>
          </a:p>
          <a:p>
            <a:pPr marL="285750" indent="-285750">
              <a:buClr>
                <a:schemeClr val="accent4"/>
              </a:buClr>
              <a:buSzPct val="80000"/>
              <a:buFont typeface="Wingdings" panose="05000000000000000000" pitchFamily="2" charset="2"/>
              <a:buChar char="§"/>
            </a:pPr>
            <a:r>
              <a:rPr lang="en-IN" dirty="0"/>
              <a:t>NumPy — Numerical Operations</a:t>
            </a:r>
          </a:p>
          <a:p>
            <a:pPr marL="285750" indent="-285750">
              <a:buClr>
                <a:schemeClr val="accent4"/>
              </a:buClr>
              <a:buSzPct val="80000"/>
              <a:buFont typeface="Wingdings" panose="05000000000000000000" pitchFamily="2" charset="2"/>
              <a:buChar char="§"/>
            </a:pPr>
            <a:endParaRPr lang="en-IN" dirty="0"/>
          </a:p>
          <a:p>
            <a:pPr marL="285750" indent="-285750">
              <a:buClr>
                <a:schemeClr val="accent4"/>
              </a:buClr>
              <a:buSzPct val="80000"/>
              <a:buFont typeface="Wingdings" panose="05000000000000000000" pitchFamily="2" charset="2"/>
              <a:buChar char="§"/>
            </a:pPr>
            <a:r>
              <a:rPr lang="en-IN" dirty="0"/>
              <a:t>Matplotlib / Seaborn — Data Visualization</a:t>
            </a:r>
          </a:p>
          <a:p>
            <a:pPr marL="285750" indent="-285750">
              <a:buClr>
                <a:schemeClr val="accent4"/>
              </a:buClr>
              <a:buSzPct val="80000"/>
              <a:buFont typeface="Wingdings" panose="05000000000000000000" pitchFamily="2" charset="2"/>
              <a:buChar char="§"/>
            </a:pPr>
            <a:endParaRPr lang="en-IN" dirty="0"/>
          </a:p>
          <a:p>
            <a:pPr marL="285750" indent="-285750">
              <a:buClr>
                <a:schemeClr val="accent4"/>
              </a:buClr>
              <a:buSzPct val="80000"/>
              <a:buFont typeface="Wingdings" panose="05000000000000000000" pitchFamily="2" charset="2"/>
              <a:buChar char="§"/>
            </a:pPr>
            <a:r>
              <a:rPr lang="en-IN" dirty="0"/>
              <a:t>Jupyter Notebook / Google </a:t>
            </a:r>
            <a:r>
              <a:rPr lang="en-IN" dirty="0" err="1"/>
              <a:t>Colab</a:t>
            </a:r>
            <a:r>
              <a:rPr lang="en-IN" dirty="0"/>
              <a:t> — Reproducible Documentation</a:t>
            </a:r>
          </a:p>
          <a:p>
            <a:pPr marL="285750" indent="-285750">
              <a:buClr>
                <a:schemeClr val="accent4"/>
              </a:buClr>
              <a:buSzPct val="80000"/>
              <a:buFont typeface="Wingdings" panose="05000000000000000000" pitchFamily="2" charset="2"/>
              <a:buChar char="§"/>
            </a:pPr>
            <a:endParaRPr lang="en-IN" dirty="0"/>
          </a:p>
          <a:p>
            <a:pPr marL="285750" indent="-285750">
              <a:buClr>
                <a:schemeClr val="accent4"/>
              </a:buClr>
              <a:buSzPct val="80000"/>
              <a:buFont typeface="Wingdings" panose="05000000000000000000" pitchFamily="2" charset="2"/>
              <a:buChar char="§"/>
            </a:pPr>
            <a:r>
              <a:rPr lang="en-IN" dirty="0"/>
              <a:t>CSV — Agricultural Source Dataset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C54BD32D-92CA-0A99-8D57-E0097A658A7B}"/>
              </a:ext>
            </a:extLst>
          </p:cNvPr>
          <p:cNvPicPr>
            <a:picLocks noChangeAspect="1"/>
          </p:cNvPicPr>
          <p:nvPr/>
        </p:nvPicPr>
        <p:blipFill>
          <a:blip r:embed="rId3"/>
          <a:stretch>
            <a:fillRect/>
          </a:stretch>
        </p:blipFill>
        <p:spPr>
          <a:xfrm>
            <a:off x="424030" y="2975747"/>
            <a:ext cx="5452375" cy="3871976"/>
          </a:xfrm>
          <a:prstGeom prst="rect">
            <a:avLst/>
          </a:prstGeom>
        </p:spPr>
      </p:pic>
      <p:pic>
        <p:nvPicPr>
          <p:cNvPr id="13" name="Picture 12">
            <a:extLst>
              <a:ext uri="{FF2B5EF4-FFF2-40B4-BE49-F238E27FC236}">
                <a16:creationId xmlns:a16="http://schemas.microsoft.com/office/drawing/2014/main" id="{A25E6AB6-A775-35CE-5B5C-1799932F984A}"/>
              </a:ext>
            </a:extLst>
          </p:cNvPr>
          <p:cNvPicPr>
            <a:picLocks noChangeAspect="1"/>
          </p:cNvPicPr>
          <p:nvPr/>
        </p:nvPicPr>
        <p:blipFill>
          <a:blip r:embed="rId4"/>
          <a:stretch>
            <a:fillRect/>
          </a:stretch>
        </p:blipFill>
        <p:spPr>
          <a:xfrm>
            <a:off x="675957" y="1275371"/>
            <a:ext cx="3669737" cy="1700376"/>
          </a:xfrm>
          <a:prstGeom prst="rect">
            <a:avLst/>
          </a:prstGeom>
        </p:spPr>
      </p:pic>
      <p:sp>
        <p:nvSpPr>
          <p:cNvPr id="16" name="Rounded Rectangle 25">
            <a:extLst>
              <a:ext uri="{FF2B5EF4-FFF2-40B4-BE49-F238E27FC236}">
                <a16:creationId xmlns:a16="http://schemas.microsoft.com/office/drawing/2014/main" id="{1AFA6EAE-B034-B778-0F78-54679671F161}"/>
              </a:ext>
            </a:extLst>
          </p:cNvPr>
          <p:cNvSpPr/>
          <p:nvPr/>
        </p:nvSpPr>
        <p:spPr>
          <a:xfrm>
            <a:off x="7128342" y="1201586"/>
            <a:ext cx="4542663" cy="4016802"/>
          </a:xfrm>
          <a:prstGeom prst="roundRect">
            <a:avLst/>
          </a:prstGeom>
          <a:solidFill>
            <a:srgbClr val="F8FAFC"/>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TextBox 16">
            <a:extLst>
              <a:ext uri="{FF2B5EF4-FFF2-40B4-BE49-F238E27FC236}">
                <a16:creationId xmlns:a16="http://schemas.microsoft.com/office/drawing/2014/main" id="{426EC9B2-17C3-A0E8-2E0A-DED43392428A}"/>
              </a:ext>
            </a:extLst>
          </p:cNvPr>
          <p:cNvSpPr txBox="1"/>
          <p:nvPr/>
        </p:nvSpPr>
        <p:spPr>
          <a:xfrm>
            <a:off x="7418784" y="1432736"/>
            <a:ext cx="4396670" cy="3785652"/>
          </a:xfrm>
          <a:prstGeom prst="rect">
            <a:avLst/>
          </a:prstGeom>
          <a:noFill/>
        </p:spPr>
        <p:txBody>
          <a:bodyPr wrap="square" rtlCol="0">
            <a:spAutoFit/>
          </a:bodyPr>
          <a:lstStyle/>
          <a:p>
            <a:r>
              <a:rPr lang="en-US" sz="1600" dirty="0"/>
              <a:t>This bar chart shows the distribution of agricultural records across three seasons.</a:t>
            </a:r>
          </a:p>
          <a:p>
            <a:endParaRPr lang="en-US" sz="1600" dirty="0"/>
          </a:p>
          <a:p>
            <a:r>
              <a:rPr lang="en-US" sz="1600" dirty="0"/>
              <a:t>Kharif has the highest number of records, followed by Rabi, while Zaid has the lowest representation.</a:t>
            </a:r>
          </a:p>
          <a:p>
            <a:endParaRPr lang="en-US" sz="1600" dirty="0"/>
          </a:p>
          <a:p>
            <a:r>
              <a:rPr lang="en-US" sz="1600" dirty="0"/>
              <a:t>The dataset contains approximately 1,780 Kharif records, 1,630 Rabi records, and 600 Zaid records.</a:t>
            </a:r>
          </a:p>
          <a:p>
            <a:endParaRPr lang="en-US" sz="1600" dirty="0"/>
          </a:p>
          <a:p>
            <a:r>
              <a:rPr lang="en-US" sz="1600" dirty="0"/>
              <a:t>Overall, Kharif and Rabi seasons are more strongly represented in the dataset than Zaid.</a:t>
            </a:r>
            <a:endParaRPr lang="en-IN" sz="1600" dirty="0"/>
          </a:p>
          <a:p>
            <a:endParaRPr lang="en-IN" sz="1600"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DADEC827-8681-7173-3F10-F2ED1DE89210}"/>
              </a:ext>
            </a:extLst>
          </p:cNvPr>
          <p:cNvPicPr>
            <a:picLocks noChangeAspect="1"/>
          </p:cNvPicPr>
          <p:nvPr/>
        </p:nvPicPr>
        <p:blipFill>
          <a:blip r:embed="rId3"/>
          <a:stretch>
            <a:fillRect/>
          </a:stretch>
        </p:blipFill>
        <p:spPr>
          <a:xfrm>
            <a:off x="134253" y="3072961"/>
            <a:ext cx="7442087" cy="3687181"/>
          </a:xfrm>
          <a:prstGeom prst="rect">
            <a:avLst/>
          </a:prstGeom>
        </p:spPr>
      </p:pic>
      <p:pic>
        <p:nvPicPr>
          <p:cNvPr id="15" name="Picture 14">
            <a:extLst>
              <a:ext uri="{FF2B5EF4-FFF2-40B4-BE49-F238E27FC236}">
                <a16:creationId xmlns:a16="http://schemas.microsoft.com/office/drawing/2014/main" id="{472AF095-B7FC-4EC8-275C-E04873B2C167}"/>
              </a:ext>
            </a:extLst>
          </p:cNvPr>
          <p:cNvPicPr>
            <a:picLocks noChangeAspect="1"/>
          </p:cNvPicPr>
          <p:nvPr/>
        </p:nvPicPr>
        <p:blipFill>
          <a:blip r:embed="rId4"/>
          <a:stretch>
            <a:fillRect/>
          </a:stretch>
        </p:blipFill>
        <p:spPr>
          <a:xfrm>
            <a:off x="545806" y="1201586"/>
            <a:ext cx="5471668" cy="1918883"/>
          </a:xfrm>
          <a:prstGeom prst="rect">
            <a:avLst/>
          </a:prstGeom>
        </p:spPr>
      </p:pic>
      <p:sp>
        <p:nvSpPr>
          <p:cNvPr id="16" name="TextBox 15">
            <a:extLst>
              <a:ext uri="{FF2B5EF4-FFF2-40B4-BE49-F238E27FC236}">
                <a16:creationId xmlns:a16="http://schemas.microsoft.com/office/drawing/2014/main" id="{D22C8FEA-EA43-2493-C7C0-51623BC5E432}"/>
              </a:ext>
            </a:extLst>
          </p:cNvPr>
          <p:cNvSpPr txBox="1"/>
          <p:nvPr/>
        </p:nvSpPr>
        <p:spPr>
          <a:xfrm>
            <a:off x="6913984" y="653143"/>
            <a:ext cx="184731" cy="369332"/>
          </a:xfrm>
          <a:prstGeom prst="rect">
            <a:avLst/>
          </a:prstGeom>
          <a:noFill/>
        </p:spPr>
        <p:txBody>
          <a:bodyPr wrap="none" rtlCol="0">
            <a:spAutoFit/>
          </a:bodyPr>
          <a:lstStyle/>
          <a:p>
            <a:endParaRPr lang="en-IN"/>
          </a:p>
        </p:txBody>
      </p:sp>
      <p:sp>
        <p:nvSpPr>
          <p:cNvPr id="19" name="Rounded Rectangle 25">
            <a:extLst>
              <a:ext uri="{FF2B5EF4-FFF2-40B4-BE49-F238E27FC236}">
                <a16:creationId xmlns:a16="http://schemas.microsoft.com/office/drawing/2014/main" id="{C558D3E2-0B29-B49F-502D-4E46A484EAA4}"/>
              </a:ext>
            </a:extLst>
          </p:cNvPr>
          <p:cNvSpPr/>
          <p:nvPr/>
        </p:nvSpPr>
        <p:spPr>
          <a:xfrm>
            <a:off x="7649337" y="1630114"/>
            <a:ext cx="4542663" cy="3286438"/>
          </a:xfrm>
          <a:prstGeom prst="roundRect">
            <a:avLst/>
          </a:prstGeom>
          <a:solidFill>
            <a:srgbClr val="F8FAFC"/>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TextBox 20">
            <a:extLst>
              <a:ext uri="{FF2B5EF4-FFF2-40B4-BE49-F238E27FC236}">
                <a16:creationId xmlns:a16="http://schemas.microsoft.com/office/drawing/2014/main" id="{EA64FB60-3E56-4D2C-1145-DC2CCBE908AA}"/>
              </a:ext>
            </a:extLst>
          </p:cNvPr>
          <p:cNvSpPr txBox="1"/>
          <p:nvPr/>
        </p:nvSpPr>
        <p:spPr>
          <a:xfrm>
            <a:off x="7795330" y="1861264"/>
            <a:ext cx="4396670" cy="2800767"/>
          </a:xfrm>
          <a:prstGeom prst="rect">
            <a:avLst/>
          </a:prstGeom>
          <a:noFill/>
        </p:spPr>
        <p:txBody>
          <a:bodyPr wrap="square" rtlCol="0">
            <a:spAutoFit/>
          </a:bodyPr>
          <a:lstStyle/>
          <a:p>
            <a:r>
              <a:rPr lang="en-US" sz="1600" dirty="0"/>
              <a:t>This bar chart represents the number of records for different crops. Rice has the highest representation with approximately 690 records, followed by Wheat (610) and Maize (550). Cotton and Pulses have around 510 and 495 records, respectively. Groundnut and Chilli have slightly lower counts, while Sugarcane has the fewest records at around 300. Overall, the dataset is fairly diverse, but Rice and Wheat are the most frequently represented crops.</a:t>
            </a:r>
            <a:endParaRPr lang="en-IN" sz="16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Rounded Rectangle 25">
            <a:extLst>
              <a:ext uri="{FF2B5EF4-FFF2-40B4-BE49-F238E27FC236}">
                <a16:creationId xmlns:a16="http://schemas.microsoft.com/office/drawing/2014/main" id="{01A69BD0-4A9E-6F36-FEF4-2255C591CED8}"/>
              </a:ext>
            </a:extLst>
          </p:cNvPr>
          <p:cNvSpPr/>
          <p:nvPr/>
        </p:nvSpPr>
        <p:spPr>
          <a:xfrm>
            <a:off x="7128342" y="1410937"/>
            <a:ext cx="4542663" cy="3692908"/>
          </a:xfrm>
          <a:prstGeom prst="roundRect">
            <a:avLst/>
          </a:prstGeom>
          <a:solidFill>
            <a:srgbClr val="F8FAFC"/>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a:extLst>
              <a:ext uri="{FF2B5EF4-FFF2-40B4-BE49-F238E27FC236}">
                <a16:creationId xmlns:a16="http://schemas.microsoft.com/office/drawing/2014/main" id="{5DFC439E-96A4-344F-C506-4489A05AF9FE}"/>
              </a:ext>
            </a:extLst>
          </p:cNvPr>
          <p:cNvSpPr txBox="1"/>
          <p:nvPr/>
        </p:nvSpPr>
        <p:spPr>
          <a:xfrm>
            <a:off x="7201338" y="1608410"/>
            <a:ext cx="4396670" cy="3293209"/>
          </a:xfrm>
          <a:prstGeom prst="rect">
            <a:avLst/>
          </a:prstGeom>
          <a:noFill/>
        </p:spPr>
        <p:txBody>
          <a:bodyPr wrap="square" rtlCol="0">
            <a:spAutoFit/>
          </a:bodyPr>
          <a:lstStyle/>
          <a:p>
            <a:r>
              <a:rPr lang="en-US" sz="1600" dirty="0"/>
              <a:t>The histogram shows the distribution of agricultural yield in </a:t>
            </a:r>
            <a:r>
              <a:rPr lang="en-US" sz="1600" dirty="0" err="1"/>
              <a:t>tonnes</a:t>
            </a:r>
            <a:r>
              <a:rPr lang="en-US" sz="1600" dirty="0"/>
              <a:t> per hectare. Most observations are concentrated at relatively low yield values, mainly between 0 and 8 </a:t>
            </a:r>
            <a:r>
              <a:rPr lang="en-US" sz="1600" dirty="0" err="1"/>
              <a:t>tonnes</a:t>
            </a:r>
            <a:r>
              <a:rPr lang="en-US" sz="1600" dirty="0"/>
              <a:t>/ha. The distribution is strongly right-skewed, meaning that a small number of observations have exceptionally high yields. There are several extreme values extending beyond 20 </a:t>
            </a:r>
            <a:r>
              <a:rPr lang="en-US" sz="1600" dirty="0" err="1"/>
              <a:t>tonnes</a:t>
            </a:r>
            <a:r>
              <a:rPr lang="en-US" sz="1600" dirty="0"/>
              <a:t>/ha and even toward 100 </a:t>
            </a:r>
            <a:r>
              <a:rPr lang="en-US" sz="1600" dirty="0" err="1"/>
              <a:t>tonnes</a:t>
            </a:r>
            <a:r>
              <a:rPr lang="en-US" sz="1600" dirty="0"/>
              <a:t>/ha. These extreme observations may represent unusual production conditions, different crop types, or potential outliers in the dataset.</a:t>
            </a:r>
            <a:endParaRPr lang="en-IN" sz="1600" dirty="0"/>
          </a:p>
        </p:txBody>
      </p:sp>
      <p:pic>
        <p:nvPicPr>
          <p:cNvPr id="11" name="Picture 10">
            <a:extLst>
              <a:ext uri="{FF2B5EF4-FFF2-40B4-BE49-F238E27FC236}">
                <a16:creationId xmlns:a16="http://schemas.microsoft.com/office/drawing/2014/main" id="{2704AB9C-87C2-62E5-17FE-D60DBB8C772D}"/>
              </a:ext>
            </a:extLst>
          </p:cNvPr>
          <p:cNvPicPr>
            <a:picLocks noChangeAspect="1"/>
          </p:cNvPicPr>
          <p:nvPr/>
        </p:nvPicPr>
        <p:blipFill>
          <a:blip r:embed="rId3"/>
          <a:stretch>
            <a:fillRect/>
          </a:stretch>
        </p:blipFill>
        <p:spPr>
          <a:xfrm>
            <a:off x="142129" y="3070098"/>
            <a:ext cx="5953871" cy="3692908"/>
          </a:xfrm>
          <a:prstGeom prst="rect">
            <a:avLst/>
          </a:prstGeom>
        </p:spPr>
      </p:pic>
      <p:pic>
        <p:nvPicPr>
          <p:cNvPr id="15" name="Picture 14">
            <a:extLst>
              <a:ext uri="{FF2B5EF4-FFF2-40B4-BE49-F238E27FC236}">
                <a16:creationId xmlns:a16="http://schemas.microsoft.com/office/drawing/2014/main" id="{FD2A4531-B23B-98B4-9EBE-EC626A21DEF7}"/>
              </a:ext>
            </a:extLst>
          </p:cNvPr>
          <p:cNvPicPr>
            <a:picLocks noChangeAspect="1"/>
          </p:cNvPicPr>
          <p:nvPr/>
        </p:nvPicPr>
        <p:blipFill>
          <a:blip r:embed="rId4"/>
          <a:stretch>
            <a:fillRect/>
          </a:stretch>
        </p:blipFill>
        <p:spPr>
          <a:xfrm>
            <a:off x="520995" y="1275371"/>
            <a:ext cx="3858966" cy="163797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Rounded Rectangle 25">
            <a:extLst>
              <a:ext uri="{FF2B5EF4-FFF2-40B4-BE49-F238E27FC236}">
                <a16:creationId xmlns:a16="http://schemas.microsoft.com/office/drawing/2014/main" id="{E220CBF5-6490-B8D9-9869-D2CEE7D023E1}"/>
              </a:ext>
            </a:extLst>
          </p:cNvPr>
          <p:cNvSpPr/>
          <p:nvPr/>
        </p:nvSpPr>
        <p:spPr>
          <a:xfrm>
            <a:off x="7128342" y="1201586"/>
            <a:ext cx="4542663" cy="4016802"/>
          </a:xfrm>
          <a:prstGeom prst="roundRect">
            <a:avLst/>
          </a:prstGeom>
          <a:solidFill>
            <a:srgbClr val="F8FAFC"/>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a:extLst>
              <a:ext uri="{FF2B5EF4-FFF2-40B4-BE49-F238E27FC236}">
                <a16:creationId xmlns:a16="http://schemas.microsoft.com/office/drawing/2014/main" id="{49330DB9-9F8D-40B2-2838-3454E8410465}"/>
              </a:ext>
            </a:extLst>
          </p:cNvPr>
          <p:cNvSpPr txBox="1"/>
          <p:nvPr/>
        </p:nvSpPr>
        <p:spPr>
          <a:xfrm>
            <a:off x="7221683" y="1563382"/>
            <a:ext cx="4396670" cy="3293209"/>
          </a:xfrm>
          <a:prstGeom prst="rect">
            <a:avLst/>
          </a:prstGeom>
          <a:noFill/>
        </p:spPr>
        <p:txBody>
          <a:bodyPr wrap="square" rtlCol="0">
            <a:spAutoFit/>
          </a:bodyPr>
          <a:lstStyle/>
          <a:p>
            <a:r>
              <a:rPr lang="en-US" sz="1600" dirty="0"/>
              <a:t>The histogram shows the distribution of farm profit in INR. Most profit values are concentrated around ₹0, while the distribution also contains both negative and positive values. Negative values represent loss-making observations, extending to around -₹1 million. Positive profits extend to more than ₹4 million, showing a long right tail. The large spread indicates substantial variation in farm profitability. However, the extreme values should not be assumed to represent typical farm performance and may include unusual observations or outliers.</a:t>
            </a:r>
            <a:endParaRPr lang="en-IN" sz="1600" dirty="0"/>
          </a:p>
        </p:txBody>
      </p:sp>
      <p:pic>
        <p:nvPicPr>
          <p:cNvPr id="11" name="Picture 10">
            <a:extLst>
              <a:ext uri="{FF2B5EF4-FFF2-40B4-BE49-F238E27FC236}">
                <a16:creationId xmlns:a16="http://schemas.microsoft.com/office/drawing/2014/main" id="{8D9ACC17-B89C-8AE4-27FC-F4481AC4BFB8}"/>
              </a:ext>
            </a:extLst>
          </p:cNvPr>
          <p:cNvPicPr>
            <a:picLocks noChangeAspect="1"/>
          </p:cNvPicPr>
          <p:nvPr/>
        </p:nvPicPr>
        <p:blipFill>
          <a:blip r:embed="rId3"/>
          <a:stretch>
            <a:fillRect/>
          </a:stretch>
        </p:blipFill>
        <p:spPr>
          <a:xfrm>
            <a:off x="107271" y="3230171"/>
            <a:ext cx="5848948" cy="3627829"/>
          </a:xfrm>
          <a:prstGeom prst="rect">
            <a:avLst/>
          </a:prstGeom>
        </p:spPr>
      </p:pic>
      <p:pic>
        <p:nvPicPr>
          <p:cNvPr id="13" name="Picture 12">
            <a:extLst>
              <a:ext uri="{FF2B5EF4-FFF2-40B4-BE49-F238E27FC236}">
                <a16:creationId xmlns:a16="http://schemas.microsoft.com/office/drawing/2014/main" id="{F18B08EB-4DCE-07A9-2187-345EF6DA4388}"/>
              </a:ext>
            </a:extLst>
          </p:cNvPr>
          <p:cNvPicPr>
            <a:picLocks noChangeAspect="1"/>
          </p:cNvPicPr>
          <p:nvPr/>
        </p:nvPicPr>
        <p:blipFill>
          <a:blip r:embed="rId4"/>
          <a:stretch>
            <a:fillRect/>
          </a:stretch>
        </p:blipFill>
        <p:spPr>
          <a:xfrm>
            <a:off x="534889" y="1341248"/>
            <a:ext cx="4004928" cy="188892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Rounded Rectangle 25">
            <a:extLst>
              <a:ext uri="{FF2B5EF4-FFF2-40B4-BE49-F238E27FC236}">
                <a16:creationId xmlns:a16="http://schemas.microsoft.com/office/drawing/2014/main" id="{D2456BF9-114B-43E3-627F-17392BE6F145}"/>
              </a:ext>
            </a:extLst>
          </p:cNvPr>
          <p:cNvSpPr/>
          <p:nvPr/>
        </p:nvSpPr>
        <p:spPr>
          <a:xfrm>
            <a:off x="7128342" y="1335916"/>
            <a:ext cx="4542663" cy="3683953"/>
          </a:xfrm>
          <a:prstGeom prst="roundRect">
            <a:avLst/>
          </a:prstGeom>
          <a:solidFill>
            <a:srgbClr val="F8FAFC"/>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a:extLst>
              <a:ext uri="{FF2B5EF4-FFF2-40B4-BE49-F238E27FC236}">
                <a16:creationId xmlns:a16="http://schemas.microsoft.com/office/drawing/2014/main" id="{2C330688-033C-7EAE-DBC5-C7D6EE256324}"/>
              </a:ext>
            </a:extLst>
          </p:cNvPr>
          <p:cNvSpPr txBox="1"/>
          <p:nvPr/>
        </p:nvSpPr>
        <p:spPr>
          <a:xfrm>
            <a:off x="7201338" y="1686493"/>
            <a:ext cx="4396670" cy="3046988"/>
          </a:xfrm>
          <a:prstGeom prst="rect">
            <a:avLst/>
          </a:prstGeom>
          <a:noFill/>
        </p:spPr>
        <p:txBody>
          <a:bodyPr wrap="square" rtlCol="0">
            <a:spAutoFit/>
          </a:bodyPr>
          <a:lstStyle/>
          <a:p>
            <a:r>
              <a:rPr lang="en-US" sz="1600" dirty="0"/>
              <a:t>The histogram shows the distribution of rainfall in </a:t>
            </a:r>
            <a:r>
              <a:rPr lang="en-US" sz="1600" dirty="0" err="1"/>
              <a:t>millimetres</a:t>
            </a:r>
            <a:r>
              <a:rPr lang="en-US" sz="1600" dirty="0"/>
              <a:t> (mm). Most observations fall between approximately 300 and 1,000 mm, with the highest frequency around 500–600 mm. Rainfall values extend from about 100 mm to 1,400 mm, indicating considerable variation across the dataset. The distribution gradually decreases at higher rainfall levels, with relatively few observations above 1,200 mm. Overall, the dataset contains a wide range of rainfall conditions across different observations.</a:t>
            </a:r>
            <a:endParaRPr lang="en-IN" sz="1600" dirty="0"/>
          </a:p>
        </p:txBody>
      </p:sp>
      <p:pic>
        <p:nvPicPr>
          <p:cNvPr id="11" name="Picture 10">
            <a:extLst>
              <a:ext uri="{FF2B5EF4-FFF2-40B4-BE49-F238E27FC236}">
                <a16:creationId xmlns:a16="http://schemas.microsoft.com/office/drawing/2014/main" id="{66F51406-756A-3D36-0F92-451715DF3839}"/>
              </a:ext>
            </a:extLst>
          </p:cNvPr>
          <p:cNvPicPr>
            <a:picLocks noChangeAspect="1"/>
          </p:cNvPicPr>
          <p:nvPr/>
        </p:nvPicPr>
        <p:blipFill>
          <a:blip r:embed="rId3"/>
          <a:stretch>
            <a:fillRect/>
          </a:stretch>
        </p:blipFill>
        <p:spPr>
          <a:xfrm>
            <a:off x="184819" y="2975315"/>
            <a:ext cx="6259494" cy="3882471"/>
          </a:xfrm>
          <a:prstGeom prst="rect">
            <a:avLst/>
          </a:prstGeom>
        </p:spPr>
      </p:pic>
      <p:pic>
        <p:nvPicPr>
          <p:cNvPr id="13" name="Picture 12">
            <a:extLst>
              <a:ext uri="{FF2B5EF4-FFF2-40B4-BE49-F238E27FC236}">
                <a16:creationId xmlns:a16="http://schemas.microsoft.com/office/drawing/2014/main" id="{C2B11E5D-6BD6-2DEC-8686-D760C0B87D06}"/>
              </a:ext>
            </a:extLst>
          </p:cNvPr>
          <p:cNvPicPr>
            <a:picLocks noChangeAspect="1"/>
          </p:cNvPicPr>
          <p:nvPr/>
        </p:nvPicPr>
        <p:blipFill>
          <a:blip r:embed="rId4"/>
          <a:stretch>
            <a:fillRect/>
          </a:stretch>
        </p:blipFill>
        <p:spPr>
          <a:xfrm>
            <a:off x="882451" y="1275371"/>
            <a:ext cx="3463243" cy="163292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a:extLst>
              <a:ext uri="{FF2B5EF4-FFF2-40B4-BE49-F238E27FC236}">
                <a16:creationId xmlns:a16="http://schemas.microsoft.com/office/drawing/2014/main" id="{6130EA51-FD4A-E6CD-02CC-107113A240DE}"/>
              </a:ext>
            </a:extLst>
          </p:cNvPr>
          <p:cNvSpPr>
            <a:spLocks noGrp="1"/>
          </p:cNvSpPr>
          <p:nvPr>
            <p:ph type="body" sz="quarter" idx="12"/>
          </p:nvPr>
        </p:nvSpPr>
        <p:spPr>
          <a:xfrm>
            <a:off x="631712" y="2068596"/>
            <a:ext cx="8731701" cy="3984191"/>
          </a:xfrm>
        </p:spPr>
        <p:txBody>
          <a:bodyPr vert="horz" lIns="91440" tIns="45720" rIns="91440" bIns="45720" rtlCol="0" anchor="t">
            <a:noAutofit/>
          </a:bodyPr>
          <a:lstStyle/>
          <a:p>
            <a:pPr lvl="0"/>
            <a:r>
              <a:rPr lang="en-US" dirty="0"/>
              <a:t>Predict future crop yields using AI and machine learning.</a:t>
            </a:r>
          </a:p>
          <a:p>
            <a:pPr lvl="0"/>
            <a:r>
              <a:rPr lang="en-US" dirty="0"/>
              <a:t>Provide crop recommendations based on season and soil conditions.</a:t>
            </a:r>
          </a:p>
          <a:p>
            <a:pPr lvl="0"/>
            <a:r>
              <a:rPr lang="en-US" dirty="0"/>
              <a:t>Integrate real-time weather and rainfall data.</a:t>
            </a:r>
          </a:p>
          <a:p>
            <a:pPr lvl="0"/>
            <a:r>
              <a:rPr lang="en-US" dirty="0"/>
              <a:t>Develop a mobile app for farmers.</a:t>
            </a:r>
          </a:p>
          <a:p>
            <a:pPr lvl="0"/>
            <a:r>
              <a:rPr lang="en-US" dirty="0"/>
              <a:t>Improve productivity through data-driven farming decisions.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0" end="0"/>
                                            </p:txEl>
                                          </p:spTgt>
                                        </p:tgtEl>
                                        <p:attrNameLst>
                                          <p:attrName>style.visibility</p:attrName>
                                        </p:attrNameLst>
                                      </p:cBhvr>
                                      <p:to>
                                        <p:strVal val="visible"/>
                                      </p:to>
                                    </p:set>
                                    <p:animEffect transition="in" filter="fade">
                                      <p:cBhvr>
                                        <p:cTn id="28" dur="1000"/>
                                        <p:tgtEl>
                                          <p:spTgt spid="2">
                                            <p:txEl>
                                              <p:pRg st="0" end="0"/>
                                            </p:txEl>
                                          </p:spTgt>
                                        </p:tgtEl>
                                      </p:cBhvr>
                                    </p:animEffect>
                                    <p:anim calcmode="lin" valueType="num">
                                      <p:cBhvr>
                                        <p:cTn id="29"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1" end="1"/>
                                            </p:txEl>
                                          </p:spTgt>
                                        </p:tgtEl>
                                        <p:attrNameLst>
                                          <p:attrName>style.visibility</p:attrName>
                                        </p:attrNameLst>
                                      </p:cBhvr>
                                      <p:to>
                                        <p:strVal val="visible"/>
                                      </p:to>
                                    </p:set>
                                    <p:animEffect transition="in" filter="fade">
                                      <p:cBhvr>
                                        <p:cTn id="35" dur="1000"/>
                                        <p:tgtEl>
                                          <p:spTgt spid="2">
                                            <p:txEl>
                                              <p:pRg st="1" end="1"/>
                                            </p:txEl>
                                          </p:spTgt>
                                        </p:tgtEl>
                                      </p:cBhvr>
                                    </p:animEffect>
                                    <p:anim calcmode="lin" valueType="num">
                                      <p:cBhvr>
                                        <p:cTn id="36"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fade">
                                      <p:cBhvr>
                                        <p:cTn id="42" dur="1000"/>
                                        <p:tgtEl>
                                          <p:spTgt spid="2">
                                            <p:txEl>
                                              <p:pRg st="2" end="2"/>
                                            </p:txEl>
                                          </p:spTgt>
                                        </p:tgtEl>
                                      </p:cBhvr>
                                    </p:animEffect>
                                    <p:anim calcmode="lin" valueType="num">
                                      <p:cBhvr>
                                        <p:cTn id="4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3" end="3"/>
                                            </p:txEl>
                                          </p:spTgt>
                                        </p:tgtEl>
                                        <p:attrNameLst>
                                          <p:attrName>style.visibility</p:attrName>
                                        </p:attrNameLst>
                                      </p:cBhvr>
                                      <p:to>
                                        <p:strVal val="visible"/>
                                      </p:to>
                                    </p:set>
                                    <p:animEffect transition="in" filter="fade">
                                      <p:cBhvr>
                                        <p:cTn id="49" dur="1000"/>
                                        <p:tgtEl>
                                          <p:spTgt spid="2">
                                            <p:txEl>
                                              <p:pRg st="3" end="3"/>
                                            </p:txEl>
                                          </p:spTgt>
                                        </p:tgtEl>
                                      </p:cBhvr>
                                    </p:animEffect>
                                    <p:anim calcmode="lin" valueType="num">
                                      <p:cBhvr>
                                        <p:cTn id="50"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4" end="4"/>
                                            </p:txEl>
                                          </p:spTgt>
                                        </p:tgtEl>
                                        <p:attrNameLst>
                                          <p:attrName>style.visibility</p:attrName>
                                        </p:attrNameLst>
                                      </p:cBhvr>
                                      <p:to>
                                        <p:strVal val="visible"/>
                                      </p:to>
                                    </p:set>
                                    <p:animEffect transition="in" filter="fade">
                                      <p:cBhvr>
                                        <p:cTn id="56" dur="1000"/>
                                        <p:tgtEl>
                                          <p:spTgt spid="2">
                                            <p:txEl>
                                              <p:pRg st="4" end="4"/>
                                            </p:txEl>
                                          </p:spTgt>
                                        </p:tgtEl>
                                      </p:cBhvr>
                                    </p:animEffect>
                                    <p:anim calcmode="lin" valueType="num">
                                      <p:cBhvr>
                                        <p:cTn id="57"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605219F-9466-9A78-4DBE-9740B32D7052}"/>
              </a:ext>
            </a:extLst>
          </p:cNvPr>
          <p:cNvPicPr>
            <a:picLocks noChangeAspect="1"/>
          </p:cNvPicPr>
          <p:nvPr/>
        </p:nvPicPr>
        <p:blipFill>
          <a:blip r:embed="rId3"/>
          <a:stretch>
            <a:fillRect/>
          </a:stretch>
        </p:blipFill>
        <p:spPr>
          <a:xfrm>
            <a:off x="518667" y="1564464"/>
            <a:ext cx="6972904" cy="492294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19029" y="2517420"/>
            <a:ext cx="5385216" cy="1219717"/>
          </a:xfrm>
        </p:spPr>
        <p:txBody>
          <a:bodyPr>
            <a:noAutofit/>
          </a:bodyPr>
          <a:lstStyle/>
          <a:p>
            <a:r>
              <a:rPr lang="en-US" sz="3200" dirty="0"/>
              <a:t>Seasonal Agriculture Performance Analysis</a:t>
            </a:r>
            <a:br>
              <a:rPr lang="en-US" sz="3200" dirty="0"/>
            </a:br>
            <a:endParaRPr lang="en-IN" sz="3200"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636</TotalTime>
  <Words>754</Words>
  <Application>Microsoft Office PowerPoint</Application>
  <PresentationFormat>Widescreen</PresentationFormat>
  <Paragraphs>59</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Calibri</vt:lpstr>
      <vt:lpstr>Trebuchet MS</vt:lpstr>
      <vt:lpstr>Wingdings</vt:lpstr>
      <vt:lpstr>Wingdings 3</vt:lpstr>
      <vt:lpstr>Facet</vt:lpstr>
      <vt:lpstr>Project Title- Seasonal Agriculture Performance Analysis</vt:lpstr>
      <vt:lpstr>PROBLEM  STATEMENT</vt:lpstr>
      <vt:lpstr>Project Description  Seasonal Agriculture Performance Analysis is a Data Analytics project based on agricultural records from different seasons, geographical areas and farming conditions.  The dataset includes crop production, environmental conditions, farming practices, resource usage and economic performance.  The project analyzes and compares agricultural performance across Kharif, Rabi and Zaid seasons to identify meaningful patterns, trends and relationships.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Nishant Kumar</cp:lastModifiedBy>
  <cp:revision>103</cp:revision>
  <dcterms:created xsi:type="dcterms:W3CDTF">2021-07-11T13:13:15Z</dcterms:created>
  <dcterms:modified xsi:type="dcterms:W3CDTF">2026-09-09T08:10:25Z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